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DM Sans" pitchFamily="2" charset="0"/>
      <p:regular r:id="rId12"/>
      <p:bold r:id="rId13"/>
      <p:italic r:id="rId14"/>
      <p:boldItalic r:id="rId15"/>
    </p:embeddedFont>
    <p:embeddedFont>
      <p:font typeface="Merriweather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  <p15:guide id="3" pos="403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509594d6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g3e509594d6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509594d6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e509594d6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509594d6a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509594d6a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38625" y="1318789"/>
            <a:ext cx="3714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PROIECT </a:t>
            </a:r>
            <a:r>
              <a:rPr lang="en-US" sz="1500" b="1" i="0" u="none" strike="noStrike" cap="none" dirty="0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MACHINE LEARNING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125503" y="1783264"/>
            <a:ext cx="7941000" cy="18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Predicția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bandonului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 dirty="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r>
              <a:rPr lang="en-US" sz="5400" b="1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u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niversitar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238548" y="6096152"/>
            <a:ext cx="3714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Student: Bogdan Libotean</a:t>
            </a:r>
            <a:endParaRPr b="1" dirty="0">
              <a:solidFill>
                <a:srgbClr val="1E40A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Prezentarea Datelor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" y="903535"/>
            <a:ext cx="76200" cy="4953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71500" y="197033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Sursa: Student Dropout Prediction (Kaggle)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7375" y="265613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Dimensiune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10.000 de înregistrări și 20 de atribute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7375" y="3103810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Categorii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Demografice, logistice, academice și sănătate mentală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57375" y="355148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Variabila țintă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Dropout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7375" y="3999160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Distribuție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76% Non-Dropout vs. 24% Dropout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267518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122860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57053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4018210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title="irvan-maulana-9tdYeztpdrk-unsplas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26309" y="1100639"/>
            <a:ext cx="4794199" cy="47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Pipeline de </a:t>
            </a:r>
            <a:r>
              <a:rPr lang="en-US" sz="3150" b="1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p</a:t>
            </a:r>
            <a:r>
              <a:rPr lang="en-US" sz="315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reprocesare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71500" y="903535"/>
            <a:ext cx="76200" cy="4953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2027485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Curățare date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286500" y="2027485"/>
            <a:ext cx="560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Variabile </a:t>
            </a:r>
            <a:r>
              <a:rPr lang="en-US" sz="1950" b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950" b="1" i="0" u="none" strike="noStrike" cap="non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erivate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343925" y="2676757"/>
            <a:ext cx="5334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ndicatori sintetici pentru o mai bună putere predictivă: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04875" y="249421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Eliminare redundațe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CGPA și Semester_GPA eliminate pentru a evita coliniaritatea.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04875" y="3246685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Valori lipsă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Imputare prin mediană (Stress_Index, Study_Hours_per_Day) sau categorii noi (Unknown).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904875" y="3999160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Encoding: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Aplicarea One-Hot Encoding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Binary Encoding și Ordinal Encoding.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310300" y="3049606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6425225" y="3079872"/>
            <a:ext cx="51954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risk_score</a:t>
            </a:r>
            <a:r>
              <a:rPr lang="en-US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Stress_Index</a:t>
            </a:r>
            <a:r>
              <a:rPr lang="en-US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+ </a:t>
            </a:r>
            <a:r>
              <a:rPr lang="en-US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Assignment_Delay_Days - Attendance_Rate</a:t>
            </a:r>
            <a:r>
              <a:rPr lang="en-US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300"/>
          </a:p>
        </p:txBody>
      </p:sp>
      <p:sp>
        <p:nvSpPr>
          <p:cNvPr id="118" name="Google Shape;118;p15"/>
          <p:cNvSpPr txBox="1"/>
          <p:nvPr/>
        </p:nvSpPr>
        <p:spPr>
          <a:xfrm>
            <a:off x="6286488" y="3892681"/>
            <a:ext cx="66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▪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425226" y="3960147"/>
            <a:ext cx="5171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study_efficiency</a:t>
            </a:r>
            <a:r>
              <a:rPr lang="en-US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(GPA / </a:t>
            </a:r>
            <a:r>
              <a:rPr lang="en-US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Study_Hours_per_Day</a:t>
            </a:r>
            <a:r>
              <a:rPr lang="en-US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)</a:t>
            </a:r>
            <a:endParaRPr sz="1300"/>
          </a:p>
        </p:txBody>
      </p:sp>
      <p:pic>
        <p:nvPicPr>
          <p:cNvPr id="120" name="Google Shape;120;p15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2513260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26573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4018210"/>
            <a:ext cx="209550" cy="218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762000" y="903535"/>
            <a:ext cx="114015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Selecția </a:t>
            </a:r>
            <a:r>
              <a:rPr lang="en-US" sz="3150" b="1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m</a:t>
            </a:r>
            <a:r>
              <a:rPr lang="en-US" sz="315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odelului </a:t>
            </a:r>
            <a:r>
              <a:rPr lang="en-US" sz="3150" b="1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o</a:t>
            </a:r>
            <a:r>
              <a:rPr lang="en-US" sz="315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ptim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197033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 fost testați 4 algoritmi de clasificare, optimizați prin GridSearchCV: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184910"/>
            <a:ext cx="10668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Criteriu de selecție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Minimizarea erorilor de tip Fals Negativ pentru a nu rata studenții aflați cu adevărat la risc. Prioritizarea Recall-ului si ROC-AUC, nu acuratețea bună.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7375" y="265613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Logistic Regression: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Model final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cel mai bun Recall (76,4%).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57375" y="3103810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Random Forest: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Acuratețe mare dar Recall scăzut.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7375" y="3551485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XGBoost: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Performanță bună pe date tabulare.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7375" y="3999160"/>
            <a:ext cx="10715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SVM (Support Vector Machine)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și Ansambluri (Voting/Stacking classifier)</a:t>
            </a:r>
            <a:endParaRPr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267518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122860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57053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4018210"/>
            <a:ext cx="209550" cy="2189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623376" y="903535"/>
            <a:ext cx="76200" cy="4953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 title="comparatie_model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125" y="643575"/>
            <a:ext cx="11267998" cy="55708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/>
        </p:nvSpPr>
        <p:spPr>
          <a:xfrm>
            <a:off x="762000" y="903535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Validare: Matricea de Confuzie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71500" y="903535"/>
            <a:ext cx="76200" cy="4953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71488" y="2442373"/>
            <a:ext cx="55407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Distribuția Erorilor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904875" y="3033720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True Positives: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360 de studenți identificați corect ca fiind în risc de abandon.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904875" y="3786195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False Negatives: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111 cazuri ratate - zona critică a modelului.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04875" y="4538670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Echilibru: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Modelul prioritizează identificarea abandonului (Recall) în detrimentul alarmelor false.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04239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794870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454734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800" y="1899762"/>
            <a:ext cx="4712800" cy="400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791088" y="977885"/>
            <a:ext cx="5000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Ce factori determină abandonul?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81538" y="978027"/>
            <a:ext cx="105000" cy="969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904875" y="3018075"/>
            <a:ext cx="4472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Factori de protectie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GPA este de departe cel mai puternic predictor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04875" y="3770550"/>
            <a:ext cx="4563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Factori de risc</a:t>
            </a:r>
            <a:r>
              <a:rPr lang="en-US" sz="1500" b="1" i="0" u="none" strike="noStrike" cap="none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risk_score si Stress_Index sunt primii predictori care împing studentul spre abandon</a:t>
            </a:r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037135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>
            <a:off x="571500" y="3789610"/>
            <a:ext cx="209550" cy="2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9" title="coeficienti_l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8375" y="564950"/>
            <a:ext cx="6335548" cy="59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/>
        </p:nvSpPr>
        <p:spPr>
          <a:xfrm>
            <a:off x="1054595" y="756775"/>
            <a:ext cx="2798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1E40AF"/>
                </a:solidFill>
                <a:latin typeface="Merriweather"/>
                <a:ea typeface="Merriweather"/>
                <a:cs typeface="Merriweather"/>
                <a:sym typeface="Merriweather"/>
              </a:rPr>
              <a:t>Concluzii</a:t>
            </a:r>
            <a:endParaRPr>
              <a:solidFill>
                <a:srgbClr val="1E40AF"/>
              </a:solidFill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1054600" y="1940925"/>
            <a:ext cx="2670900" cy="34566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Ce am învățat:</a:t>
            </a:r>
            <a:endParaRPr sz="24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114300" algn="ctr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234950" algn="just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900"/>
              <a:buFont typeface="DM Sans"/>
              <a:buChar char="●"/>
            </a:pPr>
            <a:r>
              <a:rPr lang="en-US" sz="19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Accuracy poate sa fie înșelător cu date dez- echilibrate</a:t>
            </a: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4534374" y="1940925"/>
            <a:ext cx="2670900" cy="34566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Limitări:</a:t>
            </a:r>
            <a:endParaRPr sz="24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900"/>
              <a:buFont typeface="DM Sans"/>
              <a:buChar char="●"/>
            </a:pPr>
            <a:r>
              <a:rPr lang="en-US" sz="19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Lipsesc date relevante</a:t>
            </a: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900"/>
              <a:buFont typeface="DM Sans"/>
              <a:buChar char="●"/>
            </a:pPr>
            <a:r>
              <a:rPr lang="en-US" sz="1900" b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Model specific sistemului american</a:t>
            </a: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1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8289850" y="1940925"/>
            <a:ext cx="2670900" cy="3456600"/>
          </a:xfrm>
          <a:prstGeom prst="roundRect">
            <a:avLst>
              <a:gd name="adj" fmla="val 16667"/>
            </a:avLst>
          </a:prstGeom>
          <a:solidFill>
            <a:srgbClr val="F3F3F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28600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Viitor</a:t>
            </a:r>
            <a:r>
              <a:rPr lang="en-US" sz="24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endParaRPr sz="2400" b="1" dirty="0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349250" algn="just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900"/>
              <a:buFont typeface="DM Sans"/>
              <a:buChar char="●"/>
            </a:pP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Integrare</a:t>
            </a:r>
            <a:r>
              <a:rPr lang="en-US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în</a:t>
            </a:r>
            <a:r>
              <a:rPr lang="en-US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platformă</a:t>
            </a:r>
            <a:r>
              <a:rPr lang="en-US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un</a:t>
            </a:r>
            <a:r>
              <a:rPr lang="ro-RO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versitară</a:t>
            </a:r>
            <a:endParaRPr sz="1900" b="1" dirty="0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900" b="1" dirty="0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71450" lvl="0" indent="-349250" algn="just" rtl="0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900"/>
              <a:buFont typeface="DM Sans"/>
              <a:buChar char="●"/>
            </a:pP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Realizarea</a:t>
            </a:r>
            <a:r>
              <a:rPr lang="en-US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unui</a:t>
            </a:r>
            <a:r>
              <a:rPr lang="en-US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model </a:t>
            </a: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bazat</a:t>
            </a:r>
            <a:r>
              <a:rPr lang="en-US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pe </a:t>
            </a: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serii</a:t>
            </a:r>
            <a:r>
              <a:rPr lang="en-US" sz="1900" b="1" dirty="0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900" b="1" dirty="0" err="1">
                <a:solidFill>
                  <a:srgbClr val="1E40AF"/>
                </a:solidFill>
                <a:latin typeface="DM Sans"/>
                <a:ea typeface="DM Sans"/>
                <a:cs typeface="DM Sans"/>
                <a:sym typeface="DM Sans"/>
              </a:rPr>
              <a:t>temporale</a:t>
            </a:r>
            <a:endParaRPr sz="1900" b="1" dirty="0">
              <a:solidFill>
                <a:srgbClr val="1E40A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 rot="-5400000">
            <a:off x="5858982" y="5701551"/>
            <a:ext cx="297400" cy="3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 rotWithShape="1">
          <a:blip r:embed="rId3">
            <a:alphaModFix/>
          </a:blip>
          <a:srcRect t="10" b="10"/>
          <a:stretch/>
        </p:blipFill>
        <p:spPr>
          <a:xfrm rot="10800000">
            <a:off x="11391270" y="3513851"/>
            <a:ext cx="297400" cy="31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 t="110" b="110"/>
          <a:stretch/>
        </p:blipFill>
        <p:spPr>
          <a:xfrm>
            <a:off x="326670" y="3514163"/>
            <a:ext cx="297400" cy="310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850777" y="684475"/>
            <a:ext cx="114000" cy="765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/>
        </p:nvSpPr>
        <p:spPr>
          <a:xfrm>
            <a:off x="2522400" y="2549550"/>
            <a:ext cx="7756800" cy="1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Vă mulțumesc</a:t>
            </a:r>
            <a:endParaRPr sz="5400" b="1">
              <a:solidFill>
                <a:srgbClr val="1E3A8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pentru atenție!</a:t>
            </a:r>
            <a:endParaRPr sz="5400" b="1">
              <a:solidFill>
                <a:srgbClr val="1E3A8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21"/>
          <p:cNvSpPr/>
          <p:nvPr/>
        </p:nvSpPr>
        <p:spPr>
          <a:xfrm rot="5400000" flipH="1">
            <a:off x="6347550" y="2029975"/>
            <a:ext cx="106500" cy="5571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372</Words>
  <Application>Microsoft Office PowerPoint</Application>
  <PresentationFormat>Widescreen</PresentationFormat>
  <Paragraphs>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DM Sans</vt:lpstr>
      <vt:lpstr>Calibri</vt:lpstr>
      <vt:lpstr>Merriweather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Bogdan Libotean</cp:lastModifiedBy>
  <cp:revision>1</cp:revision>
  <dcterms:modified xsi:type="dcterms:W3CDTF">2026-05-27T21:13:50Z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2026-05-27T21:13:45Z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3f39ecc7-6621-4941-8166-54811f4e4265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